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telemedicine market (USD B)</c:v>
                </c:pt>
              </c:strCache>
            </c:strRef>
          </c:tx>
          <c:spPr>
            <a:solidFill>
              <a:srgbClr val="19B5A5"/>
            </a:solidFill>
            <a:ln w="25400" cap="flat">
              <a:solidFill>
                <a:srgbClr val="19B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14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B5A5"/>
              </a:solidFill>
              <a:ln w="9525" cap="flat">
                <a:solidFill>
                  <a:srgbClr val="19B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141.19</c:v>
                </c:pt>
                <c:pt idx="1">
                  <c:v>165.97</c:v>
                </c:pt>
                <c:pt idx="2">
                  <c:v>195.1</c:v>
                </c:pt>
                <c:pt idx="3">
                  <c:v>229.34</c:v>
                </c:pt>
                <c:pt idx="4">
                  <c:v>269.58</c:v>
                </c:pt>
                <c:pt idx="5">
                  <c:v>316.9</c:v>
                </c:pt>
                <c:pt idx="6">
                  <c:v>372.51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314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1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1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Hero image: Keck Medicine of USC (telemedicine appointment photo) https://www.keckmedicine.org/blog/5-tips-to-prepare-for-your-first-telemedicine-visit/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McKinsey (2024) digital transformation priorities survey (health systems) https://www.mckinsey.com/industries/healthcare/our-insights/digital-transformation-health-systems-investment-priorities
- FDA AI/ML SaMD resources (updated 2025) https://www.fda.gov/medical-devices/software-medical-device-samd/artificial-intelligence-software-medical-device
- Image: AARP (telemedicine starter guide hero) https://cdn.aarp.net/content/dam/aarp/health/telehealth/2020-05/1140-telemedicine-starter-guide-hero.jpg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Grand View Research: Telemedicine market size (2024), projection to 2030, CAGR 2025–2030 https://www.grandviewresearch.com/industry-analysis/telemedicine-industry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HHS: Summary of the HIPAA Security Rule (administrative, physical, technical safeguards) https://www.hhs.gov/hipaa/for-professionals/security/laws-regulations/index.html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FDA: Artificial Intelligence in Software as a Medical Device (SaMD) https://www.fda.gov/medical-devices/software-medical-device-samd/artificial-intelligence-software-medical-device
- FDA: Draft guidance on AI-enabled device software functions (lifecycle management) https://www.fda.gov/regulatory-information/search-fda-guidance-documents/artificial-intelligence-enabled-device-software-functions-lifecycle-management-and-marketing
- FDA: Good Machine Learning Practice guiding principles https://www.fda.gov/medical-devices/software-medical-device-samd/good-machine-learning-practice-medical-device-development-guiding-principles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lemedicine_keck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2011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Telemedicine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28803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Safer, faster virtual care with clinician-in-the-loop AI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68680" y="3520440"/>
            <a:ext cx="1389888" cy="329184"/>
          </a:xfrm>
          <a:prstGeom prst="roundRect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3593592"/>
            <a:ext cx="1060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Intake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23160" y="3520440"/>
            <a:ext cx="1993392" cy="329184"/>
          </a:xfrm>
          <a:prstGeom prst="roundRect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87752" y="3593592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Clinician Co-Pilot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81144" y="3520440"/>
            <a:ext cx="2093976" cy="329184"/>
          </a:xfrm>
          <a:prstGeom prst="roundRect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5736" y="3593592"/>
            <a:ext cx="1764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Follow-up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• 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60920" y="868680"/>
            <a:ext cx="41605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mnt/data/telemedicine_aarp.jpg">    </p:cNvPr>
          <p:cNvPicPr>
            <a:picLocks noChangeAspect="1"/>
          </p:cNvPicPr>
          <p:nvPr/>
        </p:nvPicPr>
        <p:blipFill>
          <a:blip r:embed="rId1"/>
          <a:srcRect l="27267" r="27267" t="0" b="0"/>
          <a:stretch/>
        </p:blipFill>
        <p:spPr>
          <a:xfrm>
            <a:off x="7360920" y="868680"/>
            <a:ext cx="4160520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Telehealth is here to stay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systems want digital + AI to help close access gaps and reduce operational strain.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10972800" cy="0"/>
          </a:xfrm>
          <a:prstGeom prst="line">
            <a:avLst/>
          </a:prstGeom>
          <a:noFill/>
          <a:ln w="38100">
            <a:solidFill>
              <a:srgbClr val="19B5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148840"/>
            <a:ext cx="6309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for convenient care continues across specialties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capabilities have matured (summarization, triage support, personalization)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Regulators are publishing clearer expectations for AI-enabled software functions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privacy controls can be built in from day 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Virtual care is still too manual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and clinicians feel the friction in every step.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 &amp; navigation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450592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waits, poor routing, and repeated intake forms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Patients bounce between sites, lines, and portals.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Clinician burden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450592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documentation load and fragmented context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Less time for patient interaction and decision-making.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2520" y="20574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gaps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32520" y="2450592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plans aren’t personalized or reinforced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Lower adherence and avoidable downstream utilization.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Problem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Telemedicine market growth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trajectory using reported 2024 value, 2030 projection, and CAGR.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28800"/>
          <a:ext cx="10607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3550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Grand View Research (2024 market size; 2030 projection; CAGR 2025–2030).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Market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clinician-in-the-loop AI platform for virtual care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throughput without compromising safety or patient experience.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488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Smart Intake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542032"/>
            <a:ext cx="29718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symptom capture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routing suggestions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+ accessibility support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structured note + triage context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1488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Clinician Co-Pilot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542032"/>
            <a:ext cx="29718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 summarization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prompts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Guideline-aware suggestions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+ documentation drafting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editable plan with citations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Automated Follow-up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542032"/>
            <a:ext cx="30175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after-visit summary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&amp; care reminders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rules + messaging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monitoring check-ins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adherence + early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Solution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workflow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around real clinical operations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suggests; clinicians decide; every action is logged.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965960" cy="20116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3312" y="2249424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Symptoms, history, meds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+ consent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0904" y="2926080"/>
            <a:ext cx="118872" cy="320040"/>
          </a:xfrm>
          <a:prstGeom prst="rightArrow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2103120"/>
            <a:ext cx="1965960" cy="20116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286000"/>
            <a:ext cx="502920" cy="502920"/>
          </a:xfrm>
          <a:prstGeom prst="ellipse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7872" y="2249424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Triage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288036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flags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suggestion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5464" y="2926080"/>
            <a:ext cx="118872" cy="320040"/>
          </a:xfrm>
          <a:prstGeom prst="rightArrow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103120"/>
            <a:ext cx="1965960" cy="20116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286000"/>
            <a:ext cx="502920" cy="502920"/>
          </a:xfrm>
          <a:prstGeom prst="ellipse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42432" y="2249424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Virtual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88036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note draft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50024" y="2926080"/>
            <a:ext cx="118872" cy="320040"/>
          </a:xfrm>
          <a:prstGeom prst="rightArrow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103120"/>
            <a:ext cx="1965960" cy="20116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2286000"/>
            <a:ext cx="502920" cy="502920"/>
          </a:xfrm>
          <a:prstGeom prst="ellipse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36992" y="2249424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&amp;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288036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+ referrals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Billing-ready note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44584" y="2926080"/>
            <a:ext cx="118872" cy="320040"/>
          </a:xfrm>
          <a:prstGeom prst="rightArrow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8320" y="2103120"/>
            <a:ext cx="1965960" cy="20116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2286000"/>
            <a:ext cx="502920" cy="502920"/>
          </a:xfrm>
          <a:prstGeom prst="ellipse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31552" y="2249424"/>
            <a:ext cx="1115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01200" y="2880360"/>
            <a:ext cx="1600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AVS + reminders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rules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892040"/>
            <a:ext cx="10972800" cy="123444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Built-in guardrails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40480" y="502920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Clinician confirmation required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+ rationale shown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audit trail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Policy-based red teams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Workflow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Interoperable, observable, and built for PHI.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Patient web/mobile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Clinician workspace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Video + chat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Accessibility + translation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429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&amp; workflow services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487168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Intake normalization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Summarization + note drafting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Safety rules + escalation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Knowledge retrieval (guidelines)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Monitoring + analytics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4526280"/>
            <a:ext cx="2880360" cy="141732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463600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&amp; controls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4919472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 • RBAC • Monitoring • Evaluation harness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40233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integrations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487168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EHR (FHIR/HL7)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Scheduling &amp; eligibility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Labs &amp; imaging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Messaging (SMS/email)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Billing/claims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4526280"/>
            <a:ext cx="3474720" cy="141732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46360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baseline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49194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• Key management • DLP • Backups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87368" y="3840480"/>
            <a:ext cx="274320" cy="320040"/>
          </a:xfrm>
          <a:prstGeom prst="rightArrow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36408" y="3840480"/>
            <a:ext cx="274320" cy="320040"/>
          </a:xfrm>
          <a:prstGeom prst="rightArrow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Safety, privacy, and 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privacy by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controls aligned with HIPAA Security Rule safeguards.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611880" cy="425196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361188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75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2971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&amp; procedures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assessments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management (BAAs)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provisioning + reviews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response playbooks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44568" y="1965960"/>
            <a:ext cx="3611880" cy="425196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1965960"/>
            <a:ext cx="361188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2075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64608" y="2651760"/>
            <a:ext cx="2971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hosting environments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management (MDM)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Workstation controls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inventory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disposal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49056" y="1965960"/>
            <a:ext cx="3611880" cy="425196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1965960"/>
            <a:ext cx="361188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3376" y="20756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9096" y="2651760"/>
            <a:ext cx="29718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in transit/at rest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+ MFA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Integrity controls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session timeouts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&amp; quality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responsible clinical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development and lifecycle controls with FDA guidance and GMLP principles.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6235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031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system mindset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496312"/>
            <a:ext cx="49834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intended use + boundaries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Dataset governance and traceability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Pre-deployment evaluation (clinical + bias)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Post-deployment monitoring (drift + incidents)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factors and usability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874520"/>
            <a:ext cx="5742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package (examples)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51460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description and training data summary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 by cohort + confidence calibration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analysis + mitigations (TPLC)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Cybersecurity controls and audit logs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Update policy + change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Regulatory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path to a measurable pilot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narrow, validate safety and ROI, then scale across service lines.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607040" cy="438912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265176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Weeks 0–2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review + BAAs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workflow mapping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metrics defined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65176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Weeks 3–6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74320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intake + triage MVP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Clinician co-pilot in sandbox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harness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011680"/>
            <a:ext cx="0" cy="4389120"/>
          </a:xfrm>
          <a:prstGeom prst="line">
            <a:avLst/>
          </a:prstGeom>
          <a:noFill/>
          <a:ln w="12700">
            <a:solidFill>
              <a:srgbClr val="DDE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011680"/>
            <a:ext cx="265176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Weeks 7–10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74320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in one clinic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+ incident workflow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Iterate on usability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0" cy="4389120"/>
          </a:xfrm>
          <a:prstGeom prst="line">
            <a:avLst/>
          </a:prstGeom>
          <a:noFill/>
          <a:ln w="12700">
            <a:solidFill>
              <a:srgbClr val="DDE6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2011680"/>
            <a:ext cx="2651760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Weeks 11–13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274320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cohorts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follow-up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 + scale plan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2011680"/>
            <a:ext cx="0" cy="4389120"/>
          </a:xfrm>
          <a:prstGeom prst="line">
            <a:avLst/>
          </a:prstGeom>
          <a:noFill/>
          <a:ln w="12700">
            <a:solidFill>
              <a:srgbClr val="DDE6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46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F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success metrics (examples)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 time ↓ • Documentation time ↓ • Patient NPS ↑ • Safety events tracked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&amp; ROI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what matters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Operational, clinical, and experience outcomes—tracked continuously.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72800" cy="50292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it’s measured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0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signal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328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532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per visit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0" y="25328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20–40%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1097280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35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Clinician throughput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035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Visits per session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30358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10–25%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38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experience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538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CSAT / NPS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0" y="3538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+5–15 points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10972800" cy="502920"/>
          </a:xfrm>
          <a:prstGeom prst="rect">
            <a:avLst/>
          </a:prstGeom>
          <a:solidFill>
            <a:srgbClr val="F5F8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41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4041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Escalations, overrides, adverse events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0" y="4041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increase; better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544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4544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by cohort (age/language/etc.)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4544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material gaps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10972800" cy="1051560"/>
          </a:xfrm>
          <a:prstGeom prst="roundRect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532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 hypothesis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63240" y="546811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clinician time spent on documentation and admin tasks, enabling more patient-facing minutes per session without sacrificing quality.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Telemedicine • Metrics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run a pilot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68680" y="1828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clinic • One service line • 90 days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0698480" cy="29718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834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need from a partner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24612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champion + weekly feedback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 to sandbox EHR data (or synthetic)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&amp; compliance alignment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Defined pilot cohort and success 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get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32461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Turnkey pilot build + training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Evaluation report (safety + equity)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ROI model and scale plan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3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tailored to your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10698480" cy="777240"/>
          </a:xfrm>
          <a:prstGeom prst="roundRect">
            <a:avLst/>
          </a:prstGeom>
          <a:solidFill>
            <a:srgbClr val="19B5A5"/>
          </a:solidFill>
          <a:ln w="12700">
            <a:solidFill>
              <a:srgbClr val="19B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9893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yourname@company.com  •  Demo available on request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 Telemedicine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AI Telemedicine slide deck</dc:subject>
  <dc:creator>AI Telemedicine</dc:creator>
  <cp:lastModifiedBy>AI Telemedicine</cp:lastModifiedBy>
  <cp:revision>1</cp:revision>
  <dcterms:created xsi:type="dcterms:W3CDTF">2026-01-12T21:19:56Z</dcterms:created>
  <dcterms:modified xsi:type="dcterms:W3CDTF">2026-01-12T21:19:56Z</dcterms:modified>
</cp:coreProperties>
</file>